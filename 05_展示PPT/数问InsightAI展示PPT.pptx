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6ea207c2b3411e" /><Relationship Type="http://schemas.openxmlformats.org/officeDocument/2006/relationships/extended-properties" Target="/docProps/app.xml" Id="R385cfc43dca04bc7" /><Relationship Type="http://schemas.openxmlformats.org/officeDocument/2006/relationships/officeDocument" Target="/ppt/presentation.xml" Id="R1efd74dd84fc4a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5172de732214c1a"/>
  </p:sldMasterIdLst>
  <p:notesMasterIdLst>
    <p:notesMasterId xmlns:r="http://schemas.openxmlformats.org/officeDocument/2006/relationships" r:id="R56e7a5af45a74244"/>
  </p:notesMasterIdLst>
  <p:sldIdLst>
    <p:sldId xmlns:r="http://schemas.openxmlformats.org/officeDocument/2006/relationships" id="256" r:id="R166b5db53ca14fa1"/>
    <p:sldId xmlns:r="http://schemas.openxmlformats.org/officeDocument/2006/relationships" id="257" r:id="R222992f2935e4a0d"/>
    <p:sldId xmlns:r="http://schemas.openxmlformats.org/officeDocument/2006/relationships" id="258" r:id="R47b4f68d77224264"/>
    <p:sldId xmlns:r="http://schemas.openxmlformats.org/officeDocument/2006/relationships" id="259" r:id="Rb5c4fc102c704890"/>
    <p:sldId xmlns:r="http://schemas.openxmlformats.org/officeDocument/2006/relationships" id="260" r:id="Rf3e7abb31d1a4b57"/>
    <p:sldId xmlns:r="http://schemas.openxmlformats.org/officeDocument/2006/relationships" id="261" r:id="Rd018ed10a6f541dd"/>
    <p:sldId xmlns:r="http://schemas.openxmlformats.org/officeDocument/2006/relationships" id="262" r:id="R471f6d86f3df4992"/>
    <p:sldId xmlns:r="http://schemas.openxmlformats.org/officeDocument/2006/relationships" id="263" r:id="R6335f12e0d604d0c"/>
    <p:sldId xmlns:r="http://schemas.openxmlformats.org/officeDocument/2006/relationships" id="264" r:id="R644abe92ebaa4b72"/>
    <p:sldId xmlns:r="http://schemas.openxmlformats.org/officeDocument/2006/relationships" id="265" r:id="R816a18a6b6c949a7"/>
    <p:sldId xmlns:r="http://schemas.openxmlformats.org/officeDocument/2006/relationships" id="266" r:id="R219ad850d2da4dd2"/>
    <p:sldId xmlns:r="http://schemas.openxmlformats.org/officeDocument/2006/relationships" id="267" r:id="R331c7daa1c7040c0"/>
    <p:sldId xmlns:r="http://schemas.openxmlformats.org/officeDocument/2006/relationships" id="268" r:id="R752c524b498344bd"/>
    <p:sldId xmlns:r="http://schemas.openxmlformats.org/officeDocument/2006/relationships" id="269" r:id="R38f6d3a0266946a1"/>
    <p:sldId xmlns:r="http://schemas.openxmlformats.org/officeDocument/2006/relationships" id="270" r:id="Ra93cea8bd88444eb"/>
    <p:sldId xmlns:r="http://schemas.openxmlformats.org/officeDocument/2006/relationships" id="271" r:id="R187f71b700e9474d"/>
    <p:sldId xmlns:r="http://schemas.openxmlformats.org/officeDocument/2006/relationships" id="272" r:id="R9c19b083d1cf487f"/>
    <p:sldId xmlns:r="http://schemas.openxmlformats.org/officeDocument/2006/relationships" id="273" r:id="R7967aba5c8cc47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8ce357164c4d4e" /><Relationship Type="http://schemas.openxmlformats.org/officeDocument/2006/relationships/slideMaster" Target="/ppt/slideMasters/slideMaster1.xml" Id="R05172de732214c1a" /><Relationship Type="http://schemas.openxmlformats.org/officeDocument/2006/relationships/notesMaster" Target="/ppt/notesMasters/notesMaster1.xml" Id="R56e7a5af45a74244" /><Relationship Type="http://schemas.openxmlformats.org/officeDocument/2006/relationships/presProps" Target="/ppt/presProps.xml" Id="R2ea7a0448c884bba" /><Relationship Type="http://schemas.openxmlformats.org/officeDocument/2006/relationships/tableStyles" Target="/ppt/tableStyles.xml" Id="Rf26d86df362d46ad" /><Relationship Type="http://schemas.openxmlformats.org/officeDocument/2006/relationships/slide" Target="/ppt/slides/slide1.xml" Id="R166b5db53ca14fa1" /><Relationship Type="http://schemas.openxmlformats.org/officeDocument/2006/relationships/slide" Target="/ppt/slides/slide2.xml" Id="R222992f2935e4a0d" /><Relationship Type="http://schemas.openxmlformats.org/officeDocument/2006/relationships/slide" Target="/ppt/slides/slide3.xml" Id="R47b4f68d77224264" /><Relationship Type="http://schemas.openxmlformats.org/officeDocument/2006/relationships/slide" Target="/ppt/slides/slide4.xml" Id="Rb5c4fc102c704890" /><Relationship Type="http://schemas.openxmlformats.org/officeDocument/2006/relationships/slide" Target="/ppt/slides/slide5.xml" Id="Rf3e7abb31d1a4b57" /><Relationship Type="http://schemas.openxmlformats.org/officeDocument/2006/relationships/slide" Target="/ppt/slides/slide6.xml" Id="Rd018ed10a6f541dd" /><Relationship Type="http://schemas.openxmlformats.org/officeDocument/2006/relationships/slide" Target="/ppt/slides/slide7.xml" Id="R471f6d86f3df4992" /><Relationship Type="http://schemas.openxmlformats.org/officeDocument/2006/relationships/slide" Target="/ppt/slides/slide8.xml" Id="R6335f12e0d604d0c" /><Relationship Type="http://schemas.openxmlformats.org/officeDocument/2006/relationships/slide" Target="/ppt/slides/slide9.xml" Id="R644abe92ebaa4b72" /><Relationship Type="http://schemas.openxmlformats.org/officeDocument/2006/relationships/slide" Target="/ppt/slides/slide10.xml" Id="R816a18a6b6c949a7" /><Relationship Type="http://schemas.openxmlformats.org/officeDocument/2006/relationships/slide" Target="/ppt/slides/slide11.xml" Id="R219ad850d2da4dd2" /><Relationship Type="http://schemas.openxmlformats.org/officeDocument/2006/relationships/slide" Target="/ppt/slides/slide12.xml" Id="R331c7daa1c7040c0" /><Relationship Type="http://schemas.openxmlformats.org/officeDocument/2006/relationships/slide" Target="/ppt/slides/slide13.xml" Id="R752c524b498344bd" /><Relationship Type="http://schemas.openxmlformats.org/officeDocument/2006/relationships/slide" Target="/ppt/slides/slide14.xml" Id="R38f6d3a0266946a1" /><Relationship Type="http://schemas.openxmlformats.org/officeDocument/2006/relationships/slide" Target="/ppt/slides/slide15.xml" Id="Ra93cea8bd88444eb" /><Relationship Type="http://schemas.openxmlformats.org/officeDocument/2006/relationships/slide" Target="/ppt/slides/slide16.xml" Id="R187f71b700e9474d" /><Relationship Type="http://schemas.openxmlformats.org/officeDocument/2006/relationships/slide" Target="/ppt/slides/slide17.xml" Id="R9c19b083d1cf487f" /><Relationship Type="http://schemas.openxmlformats.org/officeDocument/2006/relationships/slide" Target="/ppt/slides/slide18.xml" Id="R7967aba5c8cc47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68eb7c51c543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282d18839f4c60" /><Relationship Type="http://schemas.openxmlformats.org/officeDocument/2006/relationships/notesMaster" Target="/ppt/notesMasters/notesMaster1.xml" Id="R0d9963865a144c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2cebc8723b4901" /><Relationship Type="http://schemas.openxmlformats.org/officeDocument/2006/relationships/notesMaster" Target="/ppt/notesMasters/notesMaster1.xml" Id="Rba3e55a972dc49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0abe8c4dfc14f83" /><Relationship Type="http://schemas.openxmlformats.org/officeDocument/2006/relationships/notesMaster" Target="/ppt/notesMasters/notesMaster1.xml" Id="R9f5254d8ad6948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80a83ac01d42bc" /><Relationship Type="http://schemas.openxmlformats.org/officeDocument/2006/relationships/notesMaster" Target="/ppt/notesMasters/notesMaster1.xml" Id="Rd817ef528e1e43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f25376cf954903" /><Relationship Type="http://schemas.openxmlformats.org/officeDocument/2006/relationships/notesMaster" Target="/ppt/notesMasters/notesMaster1.xml" Id="Rd1e54160184b49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3d8171c4e04c06" /><Relationship Type="http://schemas.openxmlformats.org/officeDocument/2006/relationships/notesMaster" Target="/ppt/notesMasters/notesMaster1.xml" Id="Ra1bd9e9ef19e4cf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ab1653a43224334" /><Relationship Type="http://schemas.openxmlformats.org/officeDocument/2006/relationships/notesMaster" Target="/ppt/notesMasters/notesMaster1.xml" Id="R164b0c4652e04d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9b2845ba7f4475" /><Relationship Type="http://schemas.openxmlformats.org/officeDocument/2006/relationships/notesMaster" Target="/ppt/notesMasters/notesMaster1.xml" Id="R1f05bb365ebf4ad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28615a6b024683" /><Relationship Type="http://schemas.openxmlformats.org/officeDocument/2006/relationships/notesMaster" Target="/ppt/notesMasters/notesMaster1.xml" Id="R82c01ca436ef4a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b2ee140dff4d74" /><Relationship Type="http://schemas.openxmlformats.org/officeDocument/2006/relationships/notesMaster" Target="/ppt/notesMasters/notesMaster1.xml" Id="R9ab4d4c079924b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0f10045b19424e" /><Relationship Type="http://schemas.openxmlformats.org/officeDocument/2006/relationships/notesMaster" Target="/ppt/notesMasters/notesMaster1.xml" Id="R2918b6c96640452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eb88f0649cb454c" /><Relationship Type="http://schemas.openxmlformats.org/officeDocument/2006/relationships/notesMaster" Target="/ppt/notesMasters/notesMaster1.xml" Id="Rd864520887fc4c9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b732062e3f34bf8" /><Relationship Type="http://schemas.openxmlformats.org/officeDocument/2006/relationships/notesMaster" Target="/ppt/notesMasters/notesMaster1.xml" Id="Rafb0f19c7c9f45e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ff701b45d804099" /><Relationship Type="http://schemas.openxmlformats.org/officeDocument/2006/relationships/notesMaster" Target="/ppt/notesMasters/notesMaster1.xml" Id="R820135eb66ec4d5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e9dc748dc046ad" /><Relationship Type="http://schemas.openxmlformats.org/officeDocument/2006/relationships/notesMaster" Target="/ppt/notesMasters/notesMaster1.xml" Id="Rced6c391d71c4c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a6531475d1f4b9e" /><Relationship Type="http://schemas.openxmlformats.org/officeDocument/2006/relationships/notesMaster" Target="/ppt/notesMasters/notesMaster1.xml" Id="Rb3bc720db36b445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9cda3f6f4f8474a" /><Relationship Type="http://schemas.openxmlformats.org/officeDocument/2006/relationships/notesMaster" Target="/ppt/notesMasters/notesMaster1.xml" Id="Rcf5549997f61461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3676154bcca4176" /><Relationship Type="http://schemas.openxmlformats.org/officeDocument/2006/relationships/notesMaster" Target="/ppt/notesMasters/notesMaster1.xml" Id="R1c990500298d40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数问 InsightAI 面向日常数据分析场景，支持用自然语言提出问题，并查看系统生成的查询与分析结果。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产品帮助使用者以自然语言查询数据，同时保留生成的 SQL 与结果，便于复核。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数据源管理页展示官方数据准备状态，也支持导入自定义数据文件。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数据概览相当于先看目录和字段说明。它能帮助使用者判断“这个问题能不能回答”。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通信示例统计重庆用户数量，页面突出展示统计结果，并保留查询依据。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通信账单按年月归并并升序汇总，折线图展示月度变化，图表可由使用者开关。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任务编号用于定位对应的官方表格证据，问题内容可编辑，系统围绕当前任务进行提取和计算。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这页把安全和报告放在一起讲。核心是模型不能直接修改数据，程序只允许一条只读查询。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说明指标口径：结构化看 SQL 成功执行，非结构化看答案非空和证据留存。没有隐藏标准答案，不宣称全量准确率。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最后只说一句：这个产品让中文提问进入数据分析流程，并把结果和依据一起交出来。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页面区分已实现的查询、统计和趋势展示，与后续可扩展的异常检测及预测能力。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北京女性用户示例在结果表中保留城市、性别和条件核对字段，敏感地址默认脱敏。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用重庆用户数量和月度账单趋势作为中级例子，再补一句跨表关联和公式计算的实现方式。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重点指出日期先归并为真正月份，解决 1-01、1-30、1-31 被当成三个月的问题。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数据范围包含医疗、通信、金融结构化任务，以及多步检索、领域计算和表格查询任务。四项核心能力分别落在问数、数据接入、可视化和报告页面。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医疗案例使用官方任务 1 的真实成功结果。重点讲‘换数据不换方法’，不要把 20 说成医疗质量指标，它只是启用科室数量。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金融案例来自官方金融任务 2。强调这是分组统计，不把数量解读成业务好坏，也不展示客户个人联系信息。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数问 InsightAI 将自然语言问题转化为可执行、可复核的数据分析结果，支持本地部署和自定义数据导入。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474bd24fe941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ed9f29763fa4517" /><Relationship Type="http://schemas.openxmlformats.org/officeDocument/2006/relationships/slideLayout" Target="/ppt/slideLayouts/slideLayout1.xml" Id="Rb31476d3f69a4b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1476d3f69a4b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4a8b0a73949c0" /><Relationship Type="http://schemas.openxmlformats.org/officeDocument/2006/relationships/image" Target="/ppt/media/image.png" Id="R58d1ba6f3633477e" /><Relationship Type="http://schemas.openxmlformats.org/officeDocument/2006/relationships/notesSlide" Target="/ppt/notesSlides/notesSlide1.xml" Id="R66fc3e1b4f62450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6d16809b7440e" /><Relationship Type="http://schemas.openxmlformats.org/officeDocument/2006/relationships/notesSlide" Target="/ppt/notesSlides/notesSlide2.xml" Id="R75c1e16e51494e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5c982b96a46dd" /><Relationship Type="http://schemas.openxmlformats.org/officeDocument/2006/relationships/image" Target="/ppt/media/image2.png" Id="R8dc2b6dc24b941be" /><Relationship Type="http://schemas.openxmlformats.org/officeDocument/2006/relationships/notesSlide" Target="/ppt/notesSlides/notesSlide3.xml" Id="Re46f174c301f4f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3c2e33d844e6a" /><Relationship Type="http://schemas.openxmlformats.org/officeDocument/2006/relationships/image" Target="/ppt/media/image3.png" Id="R5609ff405b6d46b2" /><Relationship Type="http://schemas.openxmlformats.org/officeDocument/2006/relationships/notesSlide" Target="/ppt/notesSlides/notesSlide4.xml" Id="R7a9229cab15b4a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752fdb9aed4d5b" /><Relationship Type="http://schemas.openxmlformats.org/officeDocument/2006/relationships/image" Target="/ppt/media/image4.png" Id="R560473220dcf4af9" /><Relationship Type="http://schemas.openxmlformats.org/officeDocument/2006/relationships/notesSlide" Target="/ppt/notesSlides/notesSlide5.xml" Id="R8d463b77409346f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d90644172c4ec4" /><Relationship Type="http://schemas.openxmlformats.org/officeDocument/2006/relationships/image" Target="/ppt/media/image5.png" Id="Rd56a94023f47472e" /><Relationship Type="http://schemas.openxmlformats.org/officeDocument/2006/relationships/notesSlide" Target="/ppt/notesSlides/notesSlide6.xml" Id="Rf80820d54d2b49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c573da1a6e4062" /><Relationship Type="http://schemas.openxmlformats.org/officeDocument/2006/relationships/image" Target="/ppt/media/image6.png" Id="R0261bf625aa34618" /><Relationship Type="http://schemas.openxmlformats.org/officeDocument/2006/relationships/notesSlide" Target="/ppt/notesSlides/notesSlide7.xml" Id="Rc806fdd767384ba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352bbdb7d4762" /><Relationship Type="http://schemas.openxmlformats.org/officeDocument/2006/relationships/image" Target="/ppt/media/image7.png" Id="Ra626f9c2acf04105" /><Relationship Type="http://schemas.openxmlformats.org/officeDocument/2006/relationships/image" Target="/ppt/media/image8.png" Id="Rf22b5b6a8ebf4d11" /><Relationship Type="http://schemas.openxmlformats.org/officeDocument/2006/relationships/notesSlide" Target="/ppt/notesSlides/notesSlide8.xml" Id="R4f49906864584a5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ae7de10d146db" /><Relationship Type="http://schemas.openxmlformats.org/officeDocument/2006/relationships/image" Target="/ppt/media/image9.png" Id="R42bf56f7492d4d6b" /><Relationship Type="http://schemas.openxmlformats.org/officeDocument/2006/relationships/notesSlide" Target="/ppt/notesSlides/notesSlide9.xml" Id="Re579bf6cfdd44c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e1d21e07e40ca" /><Relationship Type="http://schemas.openxmlformats.org/officeDocument/2006/relationships/notesSlide" Target="/ppt/notesSlides/notesSlide10.xml" Id="Rf0c08aff14cf4ed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ff994e3b84fad" /><Relationship Type="http://schemas.openxmlformats.org/officeDocument/2006/relationships/notesSlide" Target="/ppt/notesSlides/notesSlide11.xml" Id="Rede4750b115f44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04f8587a15491f" /><Relationship Type="http://schemas.openxmlformats.org/officeDocument/2006/relationships/image" Target="/ppt/media/image10.png" Id="R09ab343647bc4e25" /><Relationship Type="http://schemas.openxmlformats.org/officeDocument/2006/relationships/notesSlide" Target="/ppt/notesSlides/notesSlide12.xml" Id="Rb3699f463eb64d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f181cb4944d01" /><Relationship Type="http://schemas.openxmlformats.org/officeDocument/2006/relationships/notesSlide" Target="/ppt/notesSlides/notesSlide13.xml" Id="R83baeade646248d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87d6623714334" /><Relationship Type="http://schemas.openxmlformats.org/officeDocument/2006/relationships/image" Target="/ppt/media/image11.png" Id="R23d2fcca078f427a" /><Relationship Type="http://schemas.openxmlformats.org/officeDocument/2006/relationships/notesSlide" Target="/ppt/notesSlides/notesSlide14.xml" Id="R8c2bc288c4204e0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d11407bfbe480c" /><Relationship Type="http://schemas.openxmlformats.org/officeDocument/2006/relationships/notesSlide" Target="/ppt/notesSlides/notesSlide15.xml" Id="R533a494262ba41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27bae992744fd" /><Relationship Type="http://schemas.openxmlformats.org/officeDocument/2006/relationships/notesSlide" Target="/ppt/notesSlides/notesSlide16.xml" Id="Rf0a6bbb69a954fd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3b4ec9130439b" /><Relationship Type="http://schemas.openxmlformats.org/officeDocument/2006/relationships/notesSlide" Target="/ppt/notesSlides/notesSlide17.xml" Id="R059edab4d83a423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e51030443048a3" /><Relationship Type="http://schemas.openxmlformats.org/officeDocument/2006/relationships/notesSlide" Target="/ppt/notesSlides/notesSlide18.xml" Id="Ra2b571d3e1fa4b1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d1ba6f3633477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31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8A43D7-302F-477F-9937-3DFBD98A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01  产品目的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78AD3-B0AF-41CB-B5A2-206FBBAA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把自然语言问题变成可核对的结果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005D9-341B-4500-B919-1CA9F7F8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56D142-BE0A-4C54-8446-C6095D91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0A397F-C31F-4B34-A243-8FD9565AB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476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使用者不需要先学会 SQL，只需要说清楚想知道什么。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F5648-09BC-4942-B740-F9A2E86D7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24100"/>
            <a:ext cx="22669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A983E-28EE-4AF1-A8CE-ACE76175B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F395CF-13A1-45A8-AD25-E50B9E8D6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中文提问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2BCF4-28DC-4399-BC76-B52AF2BC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276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说出目标，不写代码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EB8A90-97E4-4D05-95AA-AC5F46398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24100"/>
            <a:ext cx="22669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6D46D-0811-40B4-81C5-3A7E1044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571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2C00EE-776F-47A7-BAC2-F4556360A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81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自动计算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814C5-C3FD-4ED0-A402-00A15706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733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找表、筛选、汇总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3B487C-818A-4032-B497-22F5A10B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24100"/>
            <a:ext cx="2266950" cy="2114550"/>
          </a:xfrm>
          <a:prstGeom xmlns:a="http://schemas.openxmlformats.org/drawingml/2006/main" prst="roundRect">
            <a:avLst>
              <a:gd name="adj" fmla="val 360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25CC29-5B8C-4549-BCF5-5E8BD1C7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571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93503F-2DE1-4DC7-B05E-7B0BAECB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18135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留下依据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01F3E4-34F9-4F6E-979C-11442F02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7338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75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结果、SQL、证据可看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DA353D-1C1E-48CE-BD34-73665C70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3105150" cy="400050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0C53F6-2F05-471A-A1BF-71CD6BFA5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关键信息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5667FA-9415-4835-BD1B-239830BA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C7FEE2-B41F-4E2B-A94E-865469F5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00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这是一个面向业务数据的分析助手。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系统把自然语言问题转成查询，执行后返回结果和可复核依据。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5CA2E4-C7F7-4646-B5D7-54A2C24FA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2D8348-3BB6-4456-9703-EB9B349AF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15287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76F42B-72D2-481C-B166-C7E029D4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02  数据接入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931675-9241-4E02-B40C-D41EF0E84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先把数据整理成可以提问的底座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428FF-30AE-4A9F-9423-C96308D8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8D479-ABE1-44A8-B715-61403DCD3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c2b6dc24b941be"/>
          <a:srcRect xmlns:a="http://schemas.openxmlformats.org/drawingml/2006/main" l="0" t="1795" r="0" b="1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04950"/>
            <a:ext cx="742950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ACB170-F7ED-44A4-9DDC-626EA071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1524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solidFill>
              <a:srgbClr val="174D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37114-7D2B-4CCF-997B-2C203807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19750"/>
            <a:ext cx="1295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1,467 道任务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0E8FF-9218-4D9E-AE55-44D98FD7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562600"/>
            <a:ext cx="1676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solidFill>
              <a:srgbClr val="174D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D7286A-062A-4B9A-8AE1-5F5B894E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19750"/>
            <a:ext cx="1447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24 张结构化表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333B7D-5252-4014-A7BF-83A0E5ED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62600"/>
            <a:ext cx="17335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solidFill>
              <a:srgbClr val="174D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64CF86-AB09-48B5-BB58-AD4143611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619750"/>
            <a:ext cx="1504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8889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787 个表格任务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7D290B-30A5-486B-B76F-791491DD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3105150" cy="400050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F97CF-3C16-4D92-BFA2-82BDB539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关键信息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1FA07-93EA-4FE6-9BC2-3FA0D78A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这一页做什么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F64A92-B89F-4A2B-BEAE-99258060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00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程序先准备官方数据。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结构化数据用于查询和统计，表格任务用于按题目提取证据并计算。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76825-4179-45F4-A937-5320E92C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BA25AC-436E-4A80-ABC8-664365BC3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250067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DB2A2-A2B2-4BF8-8EA7-727B2672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03  数据概览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F2092-3687-4D6B-B826-4FA78FD38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先看字段，再开始提问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67BA6F-B3B5-435A-8CA5-7EAA5564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9A3ED-73C8-449F-926B-5BB2E1DE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9ff405b6d46b2"/>
          <a:srcRect xmlns:a="http://schemas.openxmlformats.org/drawingml/2006/main" l="0" t="1795" r="0" b="1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04950"/>
            <a:ext cx="742950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B5502A-11A5-47D7-8879-9DB3ABD34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3105150" cy="400050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633183-0B08-4008-B89B-FCCE21EB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关键信息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FB6543-B1A9-4158-9F73-CAD106F8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页面展示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143F16-B96E-4BE1-AC88-A91874FE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00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领域、表名、行数、字段类型和空值情况均可查看。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敏感字段默认脱敏展示，分析仍基于原始数据执行。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290BAE-3484-4CF3-AB21-2FF7FB5A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83E4C7-E187-422C-B648-46EAC7E82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69864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B09374-76F4-47C5-B3DF-99C6A41D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04  智能问数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BA04D-D874-4BC6-8C03-82D27E5E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一句话得到清晰、可复核的答案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F59BB-6581-423A-A229-1BB3EFC9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85D0D7-74BD-4E4D-95CF-BBB02B846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473220dcf4af9"/>
          <a:srcRect xmlns:a="http://schemas.openxmlformats.org/drawingml/2006/main" l="0" t="1795" r="0" b="1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04950"/>
            <a:ext cx="742950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34AE4F-F9DA-433D-8A8A-03B756D2E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3105150" cy="400050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90479D-570B-449A-80D7-4CCF51FFB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关键信息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6AB3CA-CB9F-44AA-A1EE-17B14BB9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99D18D-D4FD-4112-96AC-7CFF202E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00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问题：有多少重庆的用户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结果：230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统计数字突出显示，结果表和 SQL 可继续展开核对。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14A691-E355-4C30-B0B4-19756A8C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38D83E-B1D1-4655-961C-7910A9324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641311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1E68A8-1D6B-41AB-8A48-587E6E198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05  趋势分析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015F9-8A08-4D34-8E57-3C2DFFCD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把散乱日期先归并成真正的月份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A2922-2612-453D-B288-195B2B4E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D9667-1A4C-4D15-9170-0E52CF3D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6a94023f47472e"/>
          <a:srcRect xmlns:a="http://schemas.openxmlformats.org/drawingml/2006/main" l="0" t="1795" r="0" b="1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04950"/>
            <a:ext cx="742950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A14108-740B-4897-BAEA-8C60ACCC9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3105150" cy="42862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E0CDFB-E030-4104-B478-29C678338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关键信息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352EA3-7AE6-4539-836B-173906D9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B2E76D-0953-4064-AD13-0ED6F9DB7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003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9394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问题：统计已有月份的每月账单总额，并按月份升序生成趋势图。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程序先截取 YYYY-MM，再汇总金额，所以不会把 1-01、1-30 当成不同月份。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“显示图表”可以手动开关。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355A2-9529-4943-981A-31FC20A0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30266-87AE-422C-B2D0-11673BDCC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899208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C0EA4E-2279-4446-BE7C-C8AD119DE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06  表格问答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CC223-F4E7-4417-9F2D-0F193FF1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非结构化表格也能按任务提取证据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5C99F-0A0C-4D9A-BAA3-CDBD8EF0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CB017C-6E52-4BA6-9889-F609CD30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1bf625aa34618"/>
          <a:srcRect xmlns:a="http://schemas.openxmlformats.org/drawingml/2006/main" l="0" t="1795" r="0" b="17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04950"/>
            <a:ext cx="742950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631D8E-2078-4856-AD43-AD4C6FD7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3105150" cy="42862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B5B5C7-4E76-42C8-A3BA-11C820BC2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关键信息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66C020-BCE9-475C-AD5C-B478EAF4C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为什么选择任务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8F1E8-26A2-4357-8F9A-12EE90B3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003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官方表格问答每道题都有唯一任务 ID。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先选 ID，程序精确取回对应表格，再在“问题（可修改）”里继续追问。这样不会把整份资料都交给模型。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3DD60A-5511-4A3D-B109-ABA42F7F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23311-3A8E-4606-A8E6-B2760C34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5986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DC8090-2CFC-4293-BD6C-5A850555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07  安全与报告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682B0E-3317-472B-91C6-05A663E4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模型理解问题，程序负责把关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20E7E-9F1B-4261-9CE1-B7A55B5B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CAB8E-939D-428B-95D0-EAD4EB81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6f9c2acf04105"/>
          <a:srcRect xmlns:a="http://schemas.openxmlformats.org/drawingml/2006/main" l="10417" t="0" r="104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04950"/>
            <a:ext cx="3619500" cy="2857500"/>
          </a:xfrm>
          <a:prstGeom xmlns:a="http://schemas.openxmlformats.org/drawingml/2006/main" prst="rect">
            <a:avLst/>
          </a:prstGeom>
        </p:spPr>
      </p:pic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2b5b6a8ebf4d11"/>
          <a:srcRect xmlns:a="http://schemas.openxmlformats.org/drawingml/2006/main" l="10417" t="0" r="1041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38650" y="1504950"/>
            <a:ext cx="3619500" cy="28575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C7DFB9-741B-42C3-A1C0-363770F2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左：拦截 DROP、DELETE 等危险操作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05C1D-9326-4F84-9298-4981FB1DA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6291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右：汇总问题、SQL、结果和数据口径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96154F-611F-4FE5-A108-BC47875CA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3105150" cy="42862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58571D-4954-415C-B79F-9149B970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关键信息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8B1F35-E699-4021-86B6-4BB21843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可信机制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D75B85-8A39-4B6F-8B4E-78FF182C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003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模型负责理解问题并生成查询建议。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程序负责 SQL 安全校验、执行和结果留存，分析过程可以复核。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8CD69C-2443-4CC0-BD5B-280D7EC0B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AADE12-D995-4A3E-B019-F4505BB1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15253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AD1C64-F077-41F0-9FB7-217C6151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08  官方评测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18E50-97FC-4702-B36D-D9C1BD6E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用实际运行记录说明完成度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8F0CA4-58D7-4600-AF52-6AFED4307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B8D239-5F93-49DF-891C-CCD498DCB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bf56f7492d4d6b"/>
          <a:srcRect xmlns:a="http://schemas.openxmlformats.org/drawingml/2006/main" l="7532" t="0" r="75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04950"/>
            <a:ext cx="5048250" cy="3714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FD70A-E19F-42D3-997E-579FDFACF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619250"/>
            <a:ext cx="5048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35C"/>
          </a:solidFill>
          <a:ln xmlns:a="http://schemas.openxmlformats.org/drawingml/2006/main" w="0">
            <a:solidFill>
              <a:srgbClr val="08251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4E6B98-5885-4C7D-BFAA-C1A0DA3BA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25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5489B3-91EF-4BC7-AAA5-F925B8B1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7430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检查项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6694B4-B518-46D8-89C6-13868EE2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7430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当前记录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BB4138-C58C-4E28-83E2-A90F848A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5048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0">
            <a:solidFill>
              <a:srgbClr val="0825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040CB-3CAA-4317-95FA-DFCBA5B5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4312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251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FCF0A4-50E4-4CF0-8FC9-3B5ABAAEE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结构化任务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F912E-38E9-421B-9384-D95ED547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66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663 / 680 成功执行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C21B4B-EB0D-4374-B7CC-E5C71C54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667000"/>
            <a:ext cx="5048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E5"/>
          </a:solidFill>
          <a:ln xmlns:a="http://schemas.openxmlformats.org/drawingml/2006/main" w="0">
            <a:solidFill>
              <a:srgbClr val="0825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C0BD06-8F4D-43F7-826F-A053699B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251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E7F87C-F413-4B1F-9420-7DA757FD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90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非结构化任务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3B7A13-8F10-4C59-AC0B-BF490D124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908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786 / 787 答案非空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B110F5-BB83-4B58-AF09-4DFE28D3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190875"/>
            <a:ext cx="5048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0">
            <a:solidFill>
              <a:srgbClr val="0825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9296F0-A0AD-4317-AB76-5F241966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25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15609A-22F8-422D-AEB3-259FD07C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147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证据留存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1A45E-4A38-4118-8501-E72E8CB0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314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100%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FA850-F4EF-4C7E-A48A-0EECFE4D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714750"/>
            <a:ext cx="5048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E5"/>
          </a:solidFill>
          <a:ln xmlns:a="http://schemas.openxmlformats.org/drawingml/2006/main" w="0">
            <a:solidFill>
              <a:srgbClr val="08251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8035C8-58BB-40F9-9E70-08FC7A91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714750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25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04FE8B-C79F-43EA-B0BF-9DE2A96E8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385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公开样例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B6A59-09FF-44E1-B52F-07F66291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838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6 / 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5EDC94-9AB2-4386-BBBA-8C84BC0C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238625"/>
            <a:ext cx="5048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0">
            <a:solidFill>
              <a:srgbClr val="08251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88FE8A-6BB8-4CC2-AC36-5C0352CCB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0" cy="523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8251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D88F4C-8957-445F-843B-C64F373C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62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明确失败记录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FAA4FC-1A16-41CE-A0FC-4EC84D02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3624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18 项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6315C9-43A4-418C-8326-A2CB6D92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05400"/>
            <a:ext cx="514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结构化执行率 97.50%   非结构化答案非空率 99.87%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EF4D99-1D59-4658-8875-4F1D7FBC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467350"/>
            <a:ext cx="5048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276F73-3C72-4C24-A781-6333D4D3F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638800"/>
            <a:ext cx="4629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指标口径：执行完成度，不把无金标准任务写成准确率。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8D5E2D-7740-47AA-A6BA-8B15EC1ED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446492-9288-434C-9473-839A1355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715695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8A2618-AA46-46C3-934F-8A19317C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09  总结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0CB0E-D6BC-4F31-B1B5-78CB5804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数问 InsightAI 的核心价值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259F6-0B5D-47D4-88CB-61B360C8A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A66111-02EB-43C3-A054-90061922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B3E55-D5BC-40A1-8862-47E5099A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会提问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51D828-1DBA-4804-B02C-1FDC3F91D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中文问题直接进入系统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75DFD4-FAF8-41C0-B668-A72353B99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241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6B5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9C5405-6068-45F0-9BD8-FD75A41C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955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看过程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818DC-8B73-4D4A-9D83-87C321870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051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SQL、表格和图表都可查看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844A3-0BD1-4B9F-B79D-5161CA7A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241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6B5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CBCB63-1082-4885-B644-A0182ABD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能复核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2B744-B013-4C4D-94C3-D7E2C6AB3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0510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结果和证据一起留存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F1610D-F53C-4EB1-8F25-D70206EF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10382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B35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250AB-AEB0-4EE3-8196-0099E6DC8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让业务人员用自己的话问数据，让系统把答案和依据一起交出来。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CA2601-1442-4EDA-8FB3-9999D351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122B9-98FD-45A5-8D8B-BA2E1DD5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276044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33BFE5-679D-43F3-BD0A-50C7CC312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10  能力分级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BF1E42-D721-4EE1-A767-1D9F7431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从基本查询到建模分析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7D241-163B-44CD-8F4F-DE4ADD20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18291A-1775-4703-93E5-D5505908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DF89B8-39BF-4940-9286-F814D8A4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429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能力按查询复杂度逐步提升。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1647C1-7CFA-4659-9080-9CD0DFBD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2324100" cy="24955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D3632-F062-4038-ADFE-E901C067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初级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752F56-E73E-4641-8553-17835ECA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718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数据基本查询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362E6C-7470-4B3B-BFEB-A7AC5D78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623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筛选、计数、查看明细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33A7A2-5DF0-4433-BC94-97602080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找出北京用户；有多少重庆用户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1F440F-FE84-42CC-8A36-917EBDE1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05050"/>
            <a:ext cx="2324100" cy="24955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0554B6-2A05-4384-9D05-8D664AEE9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514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中级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67449A-31F0-4101-A894-58093DB3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9718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297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统计、关联、公式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95AA99-F588-467F-904B-0379D570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623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分组汇总、跨表连接、金额计算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3DB87-38FA-4EF1-8820-C32E5796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42291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6359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月度账单；客户与订单关联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C4327-987B-4986-831F-5229BD673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305050"/>
            <a:ext cx="2324100" cy="24955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9C6B0C-0D55-40AB-BC7C-0A9B785F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1460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7273"/>
          </a:bodyPr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高级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D64D6-9DFF-445A-97E6-0A79A345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971800"/>
            <a:ext cx="1952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建模与预测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E63FD-9AD0-4E5E-825F-5376DD0D8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62350"/>
            <a:ext cx="1943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8148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异常检测、数据挖掘、时序预测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8E5302-458F-4740-AA24-6AA6F8AD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2291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958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当前演示趋势分析；预测能力可扩展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9DFA95-9058-484A-B5BA-80784510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3105150" cy="400050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07F428-6CE3-4C69-B008-44386C41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关键信息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1229A-E569-4565-8088-6B91D79D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能力边界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D67563-F7FC-4374-AADE-5856A3EC7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00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当前版本覆盖基础查询、统计分析和趋势展示。异常检测与时序预测属于后续扩展方向。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126912-C84D-420E-A41C-36BA65A94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8B4A7B-E05C-40FD-B5AC-178660E77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2557099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4063DA-2C5D-4AA6-A53E-A43790AC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11  初级任务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52B66C-4A81-461E-AC35-95E05364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筛选条件在结果里可以直接核对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EAEF8B-9F7C-4C31-BD2F-5123BE6B5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874C67-9807-4F61-9472-8A7CE7FC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ab343647bc4e25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04950"/>
            <a:ext cx="7239000" cy="4343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7C4B0E-5795-4EFD-9954-477C4F026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A5E25-D31C-4820-B116-ED484E52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689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示例：找出所有在北京的女性用户  →  城市=北京；性别=女；结果表逐行核对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C30E91-179F-427A-9DB7-0BDFD259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3105150" cy="42862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DEA55-0579-49EC-A4AB-E16CD1D0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关键信息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D0E5C0-F13A-4D45-A5A8-E18576148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为什么这样展示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5F3898-4245-4B1B-B539-E9B6C96D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003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只显示“女性”还不够。结果表新增“城市”和“查询条件核对”，检查人员可以看到每一行确实同时满足北京和女性两个条件。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32016-6C7A-4F14-A3F4-7B2943CD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F3BC52-F084-4F3B-81B9-E3FA2586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824415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E73471-58F7-479A-BED4-85CA3EA5A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12  中级任务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DA2D63-93DD-4775-8079-0A48A9B4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统计、关联和公式计算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CFED8C-9B35-4715-B4B0-EF5CD889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957662-FDDB-4384-BAFA-B22160BF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2389A2-9C7B-40D3-9BAB-0E38D8EE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762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1481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中级问题不只返回一行数字，系统还要说明统计口径。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1C5B1B-4F15-4E47-9A4C-EC171E395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860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35C"/>
          </a:solidFill>
          <a:ln xmlns:a="http://schemas.openxmlformats.org/drawingml/2006/main" w="0">
            <a:solidFill>
              <a:srgbClr val="08251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67541-9B5D-46E8-83F4-1DE2D526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82120D-5D46-4BC4-A962-DB54B500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4955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系统动作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76B9E-4336-42C1-BB06-E211DFFF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4955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展示证据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F88D96-1017-46FD-A29D-38C29105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718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0">
            <a:solidFill>
              <a:srgbClr val="0825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BAAF5-5A11-43D9-9C81-172B3F52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813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统计分析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109ED-24C7-46BC-97CA-020D5DBF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181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按地区、月份或状态分组汇总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9FE196-F6D0-4809-B8F0-D19238B5A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813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分组结果 + 柱状图/折线图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2EFE75-04DC-45BC-951B-5A17B2BD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E5"/>
          </a:solidFill>
          <a:ln xmlns:a="http://schemas.openxmlformats.org/drawingml/2006/main" w="0">
            <a:solidFill>
              <a:srgbClr val="08251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4580E-8357-4388-ADDD-F5CD30BD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关联查询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CD9AF-0A0D-44A4-A4DA-04EC36E2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671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通过 customer_id 等键连接多张表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D595EA-6933-4291-ADEF-BB526065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关联字段 + 明细表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D6E46-BA97-435B-A87C-9E0F8C620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434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0">
            <a:solidFill>
              <a:srgbClr val="08251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E3E9D1-5EB1-4478-9251-08D9E845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529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公式计算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984000-EAB8-4962-9DB3-B35909E2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529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用收入、成本或数量计算比例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537170-44D0-43D0-BEC6-9EB75A3D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5529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196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公式说明 + 结果数值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702FBF-E803-4D88-9AF2-D7391A76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3105150" cy="400050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AD8ED9-A0B2-444F-90B2-49061DDA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关键信息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07151D-5000-4D0F-A415-414A6094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能力说明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2BE210-0F1E-49BC-BB63-D91E731B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00300" cy="2305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统计分析可按类别汇总，关联查询可组合多张表，公式计算保留指标口径。每次分析均可查看结果和 SQL。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49FC02-0861-4311-A051-4286CA74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FAC061-1AA8-40FA-B345-16ACF371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98771271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E8B8C-F775-488C-BD61-32F971C2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13  高级任务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C7F35-F551-4749-A81D-2005869BF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趋势分析是当前可展示的建模入口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99ACCC-DD84-4B7C-BC38-A3E52866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DA1955-11A3-4AC7-AAC2-246F8D17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d2fcca078f427a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504950"/>
            <a:ext cx="7239000" cy="43434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AB6CB-D410-494C-A2CE-B0C62EC51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43550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2B855-10D1-4906-ADDE-960C8034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8800"/>
            <a:ext cx="689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0784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已有月份 → 统一为 YYYY-MM → 升序汇总 → 折线图展示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FAACB-C8AF-4993-807B-778901BC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3105150" cy="42862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B068F-06D9-4DC6-BEE7-0006734F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关键信息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E1486-E035-4AD7-8E2F-51377FF6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能力边界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A1B862-E4BE-4ADE-BB3E-5BF63D26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003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当前演示已完成趋势分析。异常检测、数据挖掘和下月预测可以在同一数据底座上继续增加模型步骤，但不在本次演示中冒充已完成。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8CB9C9-69B8-4BC0-9E31-7E55F814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9FBCE5-7FB9-4955-AAFA-920AF3C0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213390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C0E11F-5B20-4224-9F08-0A27F9B21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14  数据覆盖与核心能力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855334-F0B8-4881-8EB1-AB22289A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六类官方任务，四项能力落到页面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4CC722-BC6E-40A8-91B5-E3CBB928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79711-CBAB-4B9E-89E4-61EA47F7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4025E4-968F-4AE4-A2EE-D29B49668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09750"/>
            <a:ext cx="3429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019144-6A50-4117-900D-C91B6131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结构化 Text2SQL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E40EA-F95A-4BE5-9206-2756A2E6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医疗：210 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7267E-3912-45F2-972A-6E6099D3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通信：191 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F17F7-7509-4600-B5F1-055194372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金融：279 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52B346-2149-41AE-9F14-62062E221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共 24 张数据表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F3B062-FE42-4665-B484-55D52ED7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09750"/>
            <a:ext cx="3429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D0DE32-4406-4DAA-B0FE-74FB3A78A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11455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非结构化表格问答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E16D35-B46F-4D9C-9D39-E83F5CBC9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多步检索：48 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414168-86AD-41A6-A661-17E14C44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14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领域计算：239 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ABA3FA-C14C-46D3-A0A7-E032174E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表格查询：500 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1249C9-7292-403D-BC72-79EBA9D0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3053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按任务 ID 精确取证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3ACCD7-5496-4E2E-A2A8-16F6BA52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73152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5F6537-6A5B-4FA9-A639-76C0DE4DC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91150"/>
            <a:ext cx="6934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四项核心能力：自然语言生成查询　多数据源适配　结果图表呈现　决策报告生成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AD85AD-5468-4BAB-876E-A1953ABB3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3105150" cy="42862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658F49-851A-4D75-9A41-782326AB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关键信息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4E553-8943-4B68-8C64-9992F9C21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A65CDE-1D30-4DC9-A40D-D9E437DE6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003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结构化数据通过自然语言生成查询；文档表格按任务定位证据并完成计算。数据接入、图表和报告对应产品页面。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4C306C-0854-468C-A8A6-DBC706B1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E66141-1311-48BB-B591-9324BA65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0430706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0B84BE-7CE5-4247-8C62-BBDAAA71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15  医疗案例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F4490-1061-4A99-9F0A-FE9F810B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医疗数据也能用同一套方法直接查询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CA500D-62A0-43DC-B875-2918B77E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E301D6-DE26-43B9-B4BE-52E1259C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1F1079-A86A-474D-9EC7-0674F33E0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问题：统计当前启用的科室数量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24F487-3C89-47A9-9218-A1C77C6C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47900"/>
            <a:ext cx="7239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0CCDF8-7FEA-4B3D-9FFB-589DA708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574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涉及数据表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FAF52E-A78A-482A-B072-D5F81ED6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43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833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departments_wards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CDB92B-D9E1-476D-8602-6F4863BC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432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过滤条件：is_active = TRUE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D7AD6-60F3-4DD4-B748-931E3263D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72390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0">
            <a:solidFill>
              <a:srgbClr val="EAF5E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8DB587-E62E-47F9-B023-1165BD90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957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0588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查询结果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BF8770-C030-4CD6-AF46-6CFD7DA5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9412"/>
          </a:bodyPr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20 个启用科室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687F89-A50F-4EBA-9697-B7F2062B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386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608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SQL 只读统计，结果来自官方医疗数据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18204A-86CA-4D83-B388-B21A68F0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57750"/>
            <a:ext cx="72390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461FB-DFEB-45A5-8481-119DA0AE4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86350"/>
            <a:ext cx="666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SELECT COUNT(*) AS department_count</a:t>
            </a:r>
          </a:p>
          <a:p xmlns:a="http://schemas.openxmlformats.org/drawingml/2006/main">
            <a:pPr>
              <a:def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FROM departments_wards WHERE is_active = TRUE;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244AC-AEF4-4562-97D1-91BBE05E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3105150" cy="42862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BD3CA-A224-424E-82A9-9EAFE5AF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关键信息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50332D-326C-47E7-91D9-5E72A8DDD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查询过程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C3E4AD-4763-42D7-A19C-42BFBF49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003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系统识别启用状态字段，在医疗数据表中执行统计，并展示可复核的 SQL 和结果。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DD889D-004F-483F-9ACD-1C80DC03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016304-A8D3-4E18-B474-0E667736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8489377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AED49D-BEAB-4755-9F51-1039071C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16  金融案例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7441B2-914B-449A-AF6C-628BDCC5F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分组统计把客户结构讲清楚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B7AEA2-F556-40A7-A427-5B79B7A3D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32512-7E48-45D0-84DE-52A3FDC87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968D1-41EE-4BAA-8AB6-C3DF851D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210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问题：统计不同类型的客户数量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52C50-62FE-4882-AE01-5271D3971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真实任务：finance-2  ·  表：clients  ·  结果 4 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7AE049-6956-46B6-A114-AA6EA3AA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B35C"/>
          </a:solidFill>
          <a:ln xmlns:a="http://schemas.openxmlformats.org/drawingml/2006/main" w="0">
            <a:solidFill>
              <a:srgbClr val="0825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87AC7-48DB-4EBE-8FBA-3865BB6F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336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客户类型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844A21-3863-44BF-A1F3-BEBCDCAF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336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数量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0E0F47-C9C7-4362-8627-41D5C071B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242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0">
            <a:solidFill>
              <a:srgbClr val="0825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D7685B-5FF3-4160-8BE9-DB493A80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养老金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AB6AC-2604-4F44-9418-6B93514D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86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742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75238-901A-46AD-9AC9-602E2F388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766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E5"/>
          </a:solidFill>
          <a:ln xmlns:a="http://schemas.openxmlformats.org/drawingml/2006/main" w="0">
            <a:solidFill>
              <a:srgbClr val="08251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FE9804-E24D-425B-8A17-086A347F9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385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机构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2B3350-FA35-4829-AB67-29AC1138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8385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3,798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AB55AD-87ED-40F6-9CE9-CABACB5D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2910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0">
            <a:solidFill>
              <a:srgbClr val="08251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335C83-8D90-46AB-95BC-94F91E0C8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910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个人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37DDCE-EAF9-4166-85FD-E0F62B84A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910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8,969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F2381-C73F-4044-9BEE-3EDB43D4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7815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0E5"/>
          </a:solidFill>
          <a:ln xmlns:a="http://schemas.openxmlformats.org/drawingml/2006/main" w="0">
            <a:solidFill>
              <a:srgbClr val="08251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BD574-0564-471E-B027-3D284B40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434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家族信托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4296C4-0E8A-468A-9AC5-D5BE18C88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4347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1930"/>
          </a:bodyPr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8251C"/>
                </a:solidFill>
                <a:latin typeface="Microsoft YaHei"/>
                <a:ea typeface="Microsoft YaHei"/>
                <a:cs typeface="Microsoft YaHei"/>
              </a:rPr>
              <a:t>1,491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D4A550-304C-4616-A736-F91460FC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62600"/>
            <a:ext cx="7239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74D3A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426373-27D2-4B8D-A215-C227E9F1D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685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64583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GROUP BY client_type：把一张客户表变成可读的结构分布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BDDD5-8B09-4B0D-940D-C99C53A90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62100"/>
            <a:ext cx="3105150" cy="4286250"/>
          </a:xfrm>
          <a:prstGeom xmlns:a="http://schemas.openxmlformats.org/drawingml/2006/main" prst="roundRect">
            <a:avLst>
              <a:gd name="adj" fmla="val 2454"/>
            </a:avLst>
          </a:prstGeom>
          <a:solidFill xmlns:a="http://schemas.openxmlformats.org/drawingml/2006/main">
            <a:srgbClr val="103C2D"/>
          </a:solidFill>
          <a:ln xmlns:a="http://schemas.openxmlformats.org/drawingml/2006/main" w="0">
            <a:solidFill>
              <a:srgbClr val="3B6B5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0B74C6-6CF7-4379-AE99-B027F64B1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18097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592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关键信息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3B9B2E-A3E7-4D65-95F4-22B1E8F68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47900"/>
            <a:ext cx="2381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分析结果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E1987F-B5DD-4911-BB80-FAE18022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9900"/>
            <a:ext cx="2400300" cy="259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系统按客户类型分组统计，只展示类别与数量，不输出客户联系方式等敏感信息。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53CFEE-8304-4D51-8DA6-7F89B606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EA1231-6D9B-44F9-BE80-D77689E7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92317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25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451EBD-BE1D-461D-BAFD-D78B895E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57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17  产品闭环与应用价值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B831D-C43A-4EF0-959F-76DB5CAD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"/>
            <a:ext cx="904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从中文问题到可复核的数据结果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C6B7AA-FADD-4A58-8B43-B5DC5FAE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41910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994CCF-37EB-4766-99E0-75D016CA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6B5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FE2E9-E961-4C6C-B777-B7BE3BA6C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00250"/>
            <a:ext cx="40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57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5DCE75-3A5B-487C-9095-4F8D3CB0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764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描述问题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CAB254-7FCE-4558-B6F3-C31426DF3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用中文说明需求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B9098-F127-47C2-A721-4162259CA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622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6B5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AD4CD9-5CD6-4872-B9DE-06843C5A9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00250"/>
            <a:ext cx="40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57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EE8571-D228-423B-BB33-251A950A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764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识别数据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CBBD8-C5A3-45A3-8A7D-14AD53C99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86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匹配相关表和字段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29E250-D29D-4B9E-A99B-E8F88F0F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622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6B5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7F2A1-6CE7-4875-ADB3-640C525F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00250"/>
            <a:ext cx="40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57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5DAB0-89DF-4442-8582-BBAC9324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764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生成查询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86ACCA-D89E-48E8-B115-0B304F32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86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生成只读 SQL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5910CE-21CC-42C1-BD44-F24C603B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3622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6B5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C698E1-6CA1-4CF7-A889-AF052BC1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00250"/>
            <a:ext cx="40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57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21C627-513B-40EA-935E-5F584A96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764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安全执行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2CE4B5-0CCB-47F9-8806-0625B315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校验后在本地运行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8FAEF5-EE39-46F9-82A8-EFA1DFC0F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362200"/>
            <a:ext cx="209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6B5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833FCF-4223-45BC-9641-889800669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00250"/>
            <a:ext cx="400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057"/>
          </a:bodyPr>
          <a:lstStyle xmlns:a="http://schemas.openxmlformats.org/drawingml/2006/main"/>
          <a:p xmlns:a="http://schemas.openxmlformats.org/drawingml/2006/main">
            <a:pPr>
              <a:defRPr sz="28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i="0">
                <a:solidFill>
                  <a:srgbClr val="DDB35C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128520-CBA8-4877-9DB1-FBA94D31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076450"/>
            <a:ext cx="1581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呈现结果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DAA3B8-B6B1-4D35-88E7-E8DBE6EE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86050"/>
            <a:ext cx="1809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表格、图表与报告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B8636D1-113D-4EC3-89C9-851257FB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62350"/>
            <a:ext cx="10915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DB35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432B93-EA52-4EAD-AA33-1267A1AB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CFE8DA"/>
                </a:solidFill>
                <a:latin typeface="Microsoft YaHei"/>
                <a:ea typeface="Microsoft YaHei"/>
                <a:cs typeface="Microsoft YaHei"/>
              </a:rPr>
              <a:t>面向医疗、通信、金融等分析场景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06E89C-E3BB-4EBF-BA16-D65F253F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33900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支持本地运行与 CSV、Excel、SQLite 数据导入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A8E0CF-6E03-4A7E-AD33-C2A60BCE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744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让数据查询从“需要写代码”变成“直接描述问题”，同时保留结果依据，方便复核和继续分析。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55EB52-E10E-4CB6-A8A4-523CC6DC4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数问 InsightAI  智能数据分析助手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44B24F-267E-479A-9736-66025235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960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58333"/>
          </a:bodyPr>
          <a:lstStyle xmlns:a="http://schemas.openxmlformats.org/drawingml/2006/main"/>
          <a:p xmlns:a="http://schemas.openxmlformats.org/drawingml/2006/main">
            <a:pPr>
              <a:def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i="0">
                <a:solidFill>
                  <a:srgbClr val="B7D4C4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525435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2026-09-23T15:19:30.1780000Z</dcterms:created>
  <dcterms:modified xsi:type="dcterms:W3CDTF">2026-09-23T15:19:30.1780000Z</dcterms:modified>
</coreProperties>
</file>